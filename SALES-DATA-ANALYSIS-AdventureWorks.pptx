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Nunito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Black"/>
      <p:regular r:id="rId201317"/>
    </p:embeddedFont>
    <p:embeddedFont>
      <p:font typeface="PT Sans"/>
      <p:regular r:id="rId201318"/>
    </p:embeddedFont>
    <p:embeddedFont>
      <p:font typeface="P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27411"/>
            <a:ext cx="4703149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2E"/>
                </a:solidFill>
                <a:latin typeface="Nunito Bold" pitchFamily="34" charset="0"/>
                <a:ea typeface="Nunito Bold" pitchFamily="34" charset="-122"/>
                <a:cs typeface="Nunito Bold" pitchFamily="34" charset="-120"/>
              </a:rPr>
              <a:t>SALES DATA ANALYSIS: AdventureWorks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3786882"/>
            <a:ext cx="4703149" cy="1137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Turning sales data into clear insights and actionable decisions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141" y="1852315"/>
            <a:ext cx="5605719" cy="31532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279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Executive Summary &amp; Macro Performance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1732955"/>
            <a:ext cx="4026196" cy="1023541"/>
          </a:xfrm>
          <a:prstGeom prst="roundRect">
            <a:avLst>
              <a:gd name="adj" fmla="val 29234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6560" y="1951434"/>
            <a:ext cx="358924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1. Total Revenue is $109.81M across 31K orders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98086" y="2955925"/>
            <a:ext cx="4026196" cy="730250"/>
          </a:xfrm>
          <a:prstGeom prst="roundRect">
            <a:avLst>
              <a:gd name="adj" fmla="val 4097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6560" y="3174405"/>
            <a:ext cx="358924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2. Average Order Value = $3.49K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98086" y="3885605"/>
            <a:ext cx="4026196" cy="1023541"/>
          </a:xfrm>
          <a:prstGeom prst="roundRect">
            <a:avLst>
              <a:gd name="adj" fmla="val 29234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6560" y="4104084"/>
            <a:ext cx="358924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3. Overall profit margin = 11.43%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7188" y="1732955"/>
            <a:ext cx="6279001" cy="28985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98086" y="5357813"/>
            <a:ext cx="10795524" cy="877391"/>
          </a:xfrm>
          <a:prstGeom prst="roundRect">
            <a:avLst>
              <a:gd name="adj" fmla="val 34103"/>
            </a:avLst>
          </a:prstGeom>
          <a:solidFill>
            <a:srgbClr val="CFD6FC"/>
          </a:solidFill>
          <a:ln/>
        </p:spPr>
      </p:sp>
      <p:sp>
        <p:nvSpPr>
          <p:cNvPr id="11" name="Text 8"/>
          <p:cNvSpPr/>
          <p:nvPr/>
        </p:nvSpPr>
        <p:spPr>
          <a:xfrm>
            <a:off x="897510" y="5607050"/>
            <a:ext cx="11006259" cy="398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Sales peaked sharply in 2019 before stabilizing in 2020.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Channel &amp; B2B Analysis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21503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Reseller (B2B) drives the majority of revenue; Internet (B2C) is smaller but strategic.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98086" y="2031802"/>
            <a:ext cx="4815958" cy="1522512"/>
          </a:xfrm>
          <a:prstGeom prst="roundRect">
            <a:avLst>
              <a:gd name="adj" fmla="val 19653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2910" y="2256631"/>
            <a:ext cx="436631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Split: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22910" y="2749352"/>
            <a:ext cx="4366310" cy="580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33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Reseller - 87.93% </a:t>
            </a:r>
            <a:endParaRPr lang="en-US" sz="1250" dirty="0"/>
          </a:p>
          <a:p>
            <a:pPr algn="l" marL="254000" indent="-254000">
              <a:lnSpc>
                <a:spcPct val="133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Internet - 12.07%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248" y="3778647"/>
            <a:ext cx="3869633" cy="23078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06950" y="2031802"/>
            <a:ext cx="5492910" cy="1847453"/>
          </a:xfrm>
          <a:prstGeom prst="roundRect">
            <a:avLst>
              <a:gd name="adj" fmla="val 16196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31774" y="2256631"/>
            <a:ext cx="50432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B2B Composition: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31774" y="2749352"/>
            <a:ext cx="5043262" cy="905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33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Value Added Reseller - 34.0%</a:t>
            </a:r>
            <a:endParaRPr lang="en-US" sz="1250" dirty="0"/>
          </a:p>
          <a:p>
            <a:pPr algn="l" marL="254000" indent="-254000">
              <a:lnSpc>
                <a:spcPct val="133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Warehouse - 33.0%</a:t>
            </a:r>
            <a:endParaRPr lang="en-US" sz="1250" dirty="0"/>
          </a:p>
          <a:p>
            <a:pPr algn="l" marL="254000" indent="-254000">
              <a:lnSpc>
                <a:spcPct val="133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Specialty Bike Shop - 33.0%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404" y="4103588"/>
            <a:ext cx="4265903" cy="18965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8740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Geographic Footprint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298402"/>
            <a:ext cx="4251913" cy="2045097"/>
          </a:xfrm>
          <a:prstGeom prst="roundRect">
            <a:avLst>
              <a:gd name="adj" fmla="val 14631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2910" y="2523232"/>
            <a:ext cx="3802265" cy="1595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United States is the largest market by far (&gt; $50M). Followed by Canada, France, and the United Kingdom.</a:t>
            </a:r>
            <a:endParaRPr lang="en-US" sz="1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6529" y="1897559"/>
            <a:ext cx="5809609" cy="28468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8086" y="5193109"/>
            <a:ext cx="10795524" cy="877391"/>
          </a:xfrm>
          <a:prstGeom prst="roundRect">
            <a:avLst>
              <a:gd name="adj" fmla="val 34103"/>
            </a:avLst>
          </a:prstGeom>
          <a:solidFill>
            <a:srgbClr val="CFD6FC"/>
          </a:solidFill>
          <a:ln/>
        </p:spPr>
      </p:sp>
      <p:sp>
        <p:nvSpPr>
          <p:cNvPr id="7" name="Text 4"/>
          <p:cNvSpPr/>
          <p:nvPr/>
        </p:nvSpPr>
        <p:spPr>
          <a:xfrm>
            <a:off x="897510" y="5442347"/>
            <a:ext cx="11006259" cy="398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Prioritize US reseller playbook to scale in Europe and Canada.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469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Margin Leak — Bottom 5 Products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251148"/>
            <a:ext cx="10795524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Top-line sales hide severe product margin erosion. Five key products operate at negative margins between -15% and -32%, led by Short-Sleeve Classic Jerseys and Touring-1000 models.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98086" y="2870200"/>
            <a:ext cx="4026196" cy="1568053"/>
          </a:xfrm>
          <a:prstGeom prst="roundRect">
            <a:avLst>
              <a:gd name="adj" fmla="val 19082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6560" y="3088680"/>
            <a:ext cx="358924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Bottom Products: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6560" y="3581400"/>
            <a:ext cx="358924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Short-Sleeve Classic Jersey (S, L, XL):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margins down to -32%.</a:t>
            </a:r>
            <a:endParaRPr lang="en-US" sz="1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7188" y="2361208"/>
            <a:ext cx="5872214" cy="258603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8086" y="5395913"/>
            <a:ext cx="10795524" cy="877391"/>
          </a:xfrm>
          <a:prstGeom prst="roundRect">
            <a:avLst>
              <a:gd name="adj" fmla="val 34103"/>
            </a:avLst>
          </a:prstGeom>
          <a:solidFill>
            <a:srgbClr val="CFD6FC"/>
          </a:solidFill>
          <a:ln/>
        </p:spPr>
      </p:sp>
      <p:sp>
        <p:nvSpPr>
          <p:cNvPr id="9" name="Text 6"/>
          <p:cNvSpPr/>
          <p:nvPr/>
        </p:nvSpPr>
        <p:spPr>
          <a:xfrm>
            <a:off x="897510" y="5645150"/>
            <a:ext cx="11006259" cy="398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Negative product margins materially depress overall profitability.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8091"/>
            <a:ext cx="10795524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Strategic Recommendations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562199"/>
            <a:ext cx="3469593" cy="20947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1431" y="1783953"/>
            <a:ext cx="2924499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1. Price Floors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021431" y="2188567"/>
            <a:ext cx="2924499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 minimum margin price floors on apparel and touring bikes to stop margin erosion.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0952" y="1562199"/>
            <a:ext cx="3469692" cy="20947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4298" y="1783953"/>
            <a:ext cx="2924598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2. Supplier Review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684298" y="2188567"/>
            <a:ext cx="2924598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Re-evaluate supplier production costs for jerseys and negotiate better terms or alternative suppliers.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3917" y="1562199"/>
            <a:ext cx="3469692" cy="20947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7263" y="1783953"/>
            <a:ext cx="2924598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3. International Expansion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47263" y="2188567"/>
            <a:ext cx="2924598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Expand the high-performing US reseller model into targeted European territories to grow B2B revenue.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98086" y="4200426"/>
            <a:ext cx="6849395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Next steps: </a:t>
            </a:r>
            <a:endParaRPr lang="en-US" sz="2900" dirty="0"/>
          </a:p>
        </p:txBody>
      </p:sp>
      <p:sp>
        <p:nvSpPr>
          <p:cNvPr id="13" name="Text 8"/>
          <p:cNvSpPr/>
          <p:nvPr/>
        </p:nvSpPr>
        <p:spPr>
          <a:xfrm>
            <a:off x="698086" y="4739680"/>
            <a:ext cx="684939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1. Set margin thresholds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698086" y="5163443"/>
            <a:ext cx="684939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2. Run SKU-level cost audits</a:t>
            </a:r>
            <a:endParaRPr lang="en-US" sz="2150" dirty="0"/>
          </a:p>
        </p:txBody>
      </p:sp>
      <p:sp>
        <p:nvSpPr>
          <p:cNvPr id="15" name="Text 10"/>
          <p:cNvSpPr/>
          <p:nvPr/>
        </p:nvSpPr>
        <p:spPr>
          <a:xfrm>
            <a:off x="698086" y="5587206"/>
            <a:ext cx="684939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3. Pilot EU reseller partnerships Q4.</a:t>
            </a:r>
            <a:endParaRPr lang="en-US" sz="2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0958" y="4091682"/>
            <a:ext cx="1950691" cy="19507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2026-09-03T13:14:42Z</dcterms:created>
  <dcterms:modified xsi:type="dcterms:W3CDTF">2026-09-03T13:14:42Z</dcterms:modified>
</cp:coreProperties>
</file>